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32" y="6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658368"/>
            <a:ext cx="1417320" cy="310896"/>
          </a:xfrm>
          <a:prstGeom prst="roundRect">
            <a:avLst/>
          </a:prstGeom>
          <a:solidFill>
            <a:srgbClr val="30D6FF"/>
          </a:solidFill>
          <a:ln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672084"/>
            <a:ext cx="128930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667512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200" b="1">
                <a:solidFill>
                  <a:srgbClr val="F5F9FF"/>
                </a:solidFill>
                <a:latin typeface="Aptos"/>
              </a:rPr>
              <a:t>English Useful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670048"/>
            <a:ext cx="6766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30D6FF"/>
                </a:solidFill>
                <a:latin typeface="Aptos"/>
              </a:rPr>
              <a:t>Архитектура и интерфейс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AAC2DE"/>
                </a:solidFill>
                <a:latin typeface="Aptos"/>
              </a:rPr>
              <a:t>BACKEND / CORE   +   FRONTEND /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53035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ru-RU" sz="1200" dirty="0">
                <a:solidFill>
                  <a:srgbClr val="F5F9FF"/>
                </a:solidFill>
                <a:latin typeface="Aptos"/>
              </a:rPr>
              <a:t>Выполнил</a:t>
            </a:r>
            <a:r>
              <a:rPr sz="1200" b="0" dirty="0">
                <a:solidFill>
                  <a:srgbClr val="F5F9FF"/>
                </a:solidFill>
                <a:latin typeface="Aptos"/>
              </a:rPr>
              <a:t>: </a:t>
            </a:r>
            <a:r>
              <a:rPr lang="ru-RU" sz="1200" dirty="0">
                <a:solidFill>
                  <a:srgbClr val="F5F9FF"/>
                </a:solidFill>
                <a:latin typeface="Aptos"/>
              </a:rPr>
              <a:t>Батищев Вячеслав </a:t>
            </a:r>
            <a:endParaRPr sz="1200" b="0" dirty="0">
              <a:solidFill>
                <a:srgbClr val="F5F9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530352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dirty="0">
                <a:solidFill>
                  <a:srgbClr val="AAC2DE"/>
                </a:solidFill>
                <a:latin typeface="Aptos"/>
              </a:rPr>
              <a:t>Группа: </a:t>
            </a:r>
            <a:r>
              <a:rPr lang="ru-RU" sz="1200" b="0" dirty="0">
                <a:solidFill>
                  <a:srgbClr val="AAC2DE"/>
                </a:solidFill>
                <a:latin typeface="Aptos"/>
              </a:rPr>
              <a:t>К-ИСП-2303</a:t>
            </a:r>
            <a:endParaRPr sz="1200" b="0" dirty="0">
              <a:solidFill>
                <a:srgbClr val="AAC2DE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95360" y="41605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5F9FF"/>
                </a:solidFill>
                <a:latin typeface="Aptos"/>
              </a:rPr>
              <a:t>LEARN • TRACK • SYNC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FF6CACE-58D6-197F-AE95-11A9694FD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361" y="3088433"/>
            <a:ext cx="3787998" cy="8790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01 /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9FF"/>
                </a:solidFill>
                <a:latin typeface="Aptos"/>
              </a:rPr>
              <a:t>Что такое English Useful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Веб-приложение для самостоятельного изучения английского языка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92608"/>
            <a:ext cx="713232" cy="310896"/>
          </a:xfrm>
          <a:prstGeom prst="roundRect">
            <a:avLst/>
          </a:prstGeom>
          <a:solidFill>
            <a:srgbClr val="855DFF"/>
          </a:solidFill>
          <a:ln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91088" y="3063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02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0D6FF"/>
                </a:solidFill>
                <a:latin typeface="Aptos"/>
              </a:rPr>
              <a:t>02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1901952"/>
            <a:ext cx="91440" cy="91440"/>
          </a:xfrm>
          <a:prstGeom prst="ellipse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" y="1783080"/>
            <a:ext cx="5358383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9FF"/>
                </a:solidFill>
                <a:latin typeface="Aptos"/>
              </a:rPr>
              <a:t>PWA: работает в браузере и устанавливается на телефон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660903"/>
            <a:ext cx="91440" cy="91440"/>
          </a:xfrm>
          <a:prstGeom prst="ellipse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5256" y="2542032"/>
            <a:ext cx="5358383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dirty="0" err="1">
                <a:solidFill>
                  <a:srgbClr val="F5F9FF"/>
                </a:solidFill>
                <a:latin typeface="Aptos"/>
              </a:rPr>
              <a:t>Контент</a:t>
            </a:r>
            <a:r>
              <a:rPr sz="1700" b="0" dirty="0">
                <a:solidFill>
                  <a:srgbClr val="F5F9FF"/>
                </a:solidFill>
                <a:latin typeface="Aptos"/>
              </a:rPr>
              <a:t>: </a:t>
            </a:r>
            <a:r>
              <a:rPr lang="ru-RU" sz="1700" dirty="0">
                <a:solidFill>
                  <a:srgbClr val="F5F9FF"/>
                </a:solidFill>
                <a:latin typeface="Aptos"/>
              </a:rPr>
              <a:t>4830</a:t>
            </a:r>
            <a:r>
              <a:rPr sz="1700" b="0" dirty="0">
                <a:solidFill>
                  <a:srgbClr val="F5F9FF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F5F9FF"/>
                </a:solidFill>
                <a:latin typeface="Aptos"/>
              </a:rPr>
              <a:t>слов</a:t>
            </a:r>
            <a:r>
              <a:rPr sz="1700" b="0" dirty="0">
                <a:solidFill>
                  <a:srgbClr val="F5F9FF"/>
                </a:solidFill>
                <a:latin typeface="Aptos"/>
              </a:rPr>
              <a:t>, </a:t>
            </a:r>
            <a:r>
              <a:rPr lang="ru-RU" sz="1700" dirty="0">
                <a:solidFill>
                  <a:srgbClr val="F5F9FF"/>
                </a:solidFill>
                <a:latin typeface="Aptos"/>
              </a:rPr>
              <a:t>941 </a:t>
            </a:r>
            <a:r>
              <a:rPr sz="1700" b="0" dirty="0" err="1">
                <a:solidFill>
                  <a:srgbClr val="F5F9FF"/>
                </a:solidFill>
                <a:latin typeface="Aptos"/>
              </a:rPr>
              <a:t>фраз</a:t>
            </a:r>
            <a:r>
              <a:rPr sz="1700" b="0" dirty="0">
                <a:solidFill>
                  <a:srgbClr val="F5F9FF"/>
                </a:solidFill>
                <a:latin typeface="Aptos"/>
              </a:rPr>
              <a:t> и 400 </a:t>
            </a:r>
            <a:r>
              <a:rPr sz="1700" b="0" dirty="0" err="1">
                <a:solidFill>
                  <a:srgbClr val="F5F9FF"/>
                </a:solidFill>
                <a:latin typeface="Aptos"/>
              </a:rPr>
              <a:t>предложений</a:t>
            </a:r>
            <a:endParaRPr sz="1700" b="0" dirty="0">
              <a:solidFill>
                <a:srgbClr val="F5F9FF"/>
              </a:solidFill>
              <a:latin typeface="Apto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5800" y="3419856"/>
            <a:ext cx="91440" cy="91440"/>
          </a:xfrm>
          <a:prstGeom prst="ellipse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" y="3300984"/>
            <a:ext cx="5358383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9FF"/>
                </a:solidFill>
                <a:latin typeface="Aptos"/>
              </a:rPr>
              <a:t>Firebase синхронизирует прогресс между устройствами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178807"/>
            <a:ext cx="91440" cy="91440"/>
          </a:xfrm>
          <a:prstGeom prst="ellipse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5256" y="4059935"/>
            <a:ext cx="5358383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9FF"/>
                </a:solidFill>
                <a:latin typeface="Aptos"/>
              </a:rPr>
              <a:t>Офлайн-режим: localStorage + service worker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9CBFBD07-2CA9-127B-5ECC-BF7EB58381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5669096" y="2941195"/>
            <a:ext cx="6522904" cy="34928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02 /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9FF"/>
                </a:solidFill>
                <a:latin typeface="Aptos"/>
              </a:rPr>
              <a:t>Технологический стек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Лёгкая архитектура без тяжёлых UI-фреймворков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92608"/>
            <a:ext cx="713232" cy="310896"/>
          </a:xfrm>
          <a:prstGeom prst="roundRect">
            <a:avLst/>
          </a:prstGeom>
          <a:solidFill>
            <a:srgbClr val="855DFF"/>
          </a:solidFill>
          <a:ln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91088" y="3063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03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0D6FF"/>
                </a:solidFill>
                <a:latin typeface="Apto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91640"/>
            <a:ext cx="2331720" cy="14173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50392" y="1874520"/>
            <a:ext cx="310896" cy="310896"/>
          </a:xfrm>
          <a:prstGeom prst="ellipse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185623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9FF"/>
                </a:solidFill>
                <a:latin typeface="Aptos"/>
              </a:rPr>
              <a:t>HTML5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441448"/>
            <a:ext cx="19933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Структура страницы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1691640"/>
            <a:ext cx="2331720" cy="14173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85032" y="1874520"/>
            <a:ext cx="310896" cy="310896"/>
          </a:xfrm>
          <a:prstGeom prst="ellipse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185623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9FF"/>
                </a:solidFill>
                <a:latin typeface="Aptos"/>
              </a:rPr>
              <a:t>CSS3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2441448"/>
            <a:ext cx="19933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Стили и адаптивность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691640"/>
            <a:ext cx="2331720" cy="14173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19672" y="1874520"/>
            <a:ext cx="310896" cy="310896"/>
          </a:xfrm>
          <a:prstGeom prst="ellipse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185623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9FF"/>
                </a:solidFill>
                <a:latin typeface="Aptos"/>
              </a:rPr>
              <a:t>JavaScript ES6+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2441448"/>
            <a:ext cx="19933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Логика приложения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691640"/>
            <a:ext cx="2331720" cy="14173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54312" y="1874520"/>
            <a:ext cx="310896" cy="310896"/>
          </a:xfrm>
          <a:prstGeom prst="ellipse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84080" y="1856232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9FF"/>
                </a:solidFill>
                <a:latin typeface="Aptos"/>
              </a:rPr>
              <a:t>Firebase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2" y="2441448"/>
            <a:ext cx="19933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Auth + Firestore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03120" y="3703320"/>
            <a:ext cx="2331720" cy="14173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267712" y="3886200"/>
            <a:ext cx="310896" cy="310896"/>
          </a:xfrm>
          <a:prstGeom prst="ellipse">
            <a:avLst/>
          </a:prstGeom>
          <a:solidFill>
            <a:srgbClr val="85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97479" y="3867911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9FF"/>
                </a:solidFill>
                <a:latin typeface="Aptos"/>
              </a:rPr>
              <a:t>Lucide Icons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7712" y="4453128"/>
            <a:ext cx="19933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Иконки через CDN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3703320"/>
            <a:ext cx="2331720" cy="14173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BE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102352" y="3886200"/>
            <a:ext cx="310896" cy="310896"/>
          </a:xfrm>
          <a:prstGeom prst="ellipse">
            <a:avLst/>
          </a:prstGeom>
          <a:solidFill>
            <a:srgbClr val="3BE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32120" y="3867911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9FF"/>
                </a:solidFill>
                <a:latin typeface="Aptos"/>
              </a:rPr>
              <a:t>PWA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2352" y="4453128"/>
            <a:ext cx="19933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Manifest + Service Worker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3703320"/>
            <a:ext cx="2331720" cy="14173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5F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936992" y="3886200"/>
            <a:ext cx="310896" cy="310896"/>
          </a:xfrm>
          <a:prstGeom prst="ellipse">
            <a:avLst/>
          </a:prstGeom>
          <a:solidFill>
            <a:srgbClr val="F5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66760" y="3867911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9FF"/>
                </a:solidFill>
                <a:latin typeface="Aptos"/>
              </a:rPr>
              <a:t>GitHub Pages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4453128"/>
            <a:ext cx="19933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Статический хостинг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03 / PROJECT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9FF"/>
                </a:solidFill>
                <a:latin typeface="Aptos"/>
              </a:rPr>
              <a:t>Структура файлов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Файлы разделены по назначению: интерфейс, логика и данные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92608"/>
            <a:ext cx="713232" cy="310896"/>
          </a:xfrm>
          <a:prstGeom prst="roundRect">
            <a:avLst/>
          </a:prstGeom>
          <a:solidFill>
            <a:srgbClr val="855DFF"/>
          </a:solidFill>
          <a:ln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91088" y="3063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04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0D6FF"/>
                </a:solidFill>
                <a:latin typeface="Aptos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00200"/>
            <a:ext cx="4572000" cy="452628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2B4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181051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0D6FF"/>
                </a:solidFill>
                <a:latin typeface="Consolas"/>
              </a:rPr>
              <a:t>app/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10512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root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13055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5F9FF"/>
                </a:solidFill>
                <a:latin typeface="Consolas"/>
              </a:rPr>
              <a:t>├── index.html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130552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entry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45059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855DFF"/>
                </a:solidFill>
                <a:latin typeface="Consolas"/>
              </a:rPr>
              <a:t>├── manifest.json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50592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PWA config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77063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BE1AD"/>
                </a:solidFill>
                <a:latin typeface="Consolas"/>
              </a:rPr>
              <a:t>├── service-worker.js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770632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offline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09067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F73FF"/>
                </a:solidFill>
                <a:latin typeface="Consolas"/>
              </a:rPr>
              <a:t>├── css/style.css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090672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styles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41071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BE3C"/>
                </a:solidFill>
                <a:latin typeface="Consolas"/>
              </a:rPr>
              <a:t>├── js/app.js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410712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core • ~2700 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30752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67AC"/>
                </a:solidFill>
                <a:latin typeface="Consolas"/>
              </a:rPr>
              <a:t>├── icons/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730752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app icons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050791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0D6FF"/>
                </a:solidFill>
                <a:latin typeface="Consolas"/>
              </a:rPr>
              <a:t>└── data/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050791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370831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Consolas"/>
              </a:rPr>
              <a:t>    ├── vocabulary.json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370831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words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90871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Consolas"/>
              </a:rPr>
              <a:t>    ├── phrases.json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690871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phrases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10911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Consolas"/>
              </a:rPr>
              <a:t>    ├── sentences.json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010911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sentences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330951"/>
            <a:ext cx="26974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Consolas"/>
              </a:rPr>
              <a:t>    └── temporary.json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5330951"/>
            <a:ext cx="132588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custom items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1828800"/>
            <a:ext cx="2057400" cy="9144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97880" y="1828800"/>
            <a:ext cx="54864" cy="914400"/>
          </a:xfrm>
          <a:prstGeom prst="rect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44184" y="1938528"/>
            <a:ext cx="1801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index.html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44184" y="2304288"/>
            <a:ext cx="18013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Page shell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1080" y="1828800"/>
            <a:ext cx="2423160" cy="9144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41080" y="1828800"/>
            <a:ext cx="54864" cy="914400"/>
          </a:xfrm>
          <a:prstGeom prst="rect">
            <a:avLst/>
          </a:prstGeom>
          <a:solidFill>
            <a:srgbClr val="85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87384" y="1938528"/>
            <a:ext cx="2167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style.css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7384" y="2304288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Visual layer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897880" y="3474720"/>
            <a:ext cx="2057400" cy="9144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897880" y="3474720"/>
            <a:ext cx="54864" cy="914400"/>
          </a:xfrm>
          <a:prstGeom prst="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044184" y="3584448"/>
            <a:ext cx="180136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app.js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44184" y="3950208"/>
            <a:ext cx="180136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Core logic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41080" y="3474720"/>
            <a:ext cx="2423160" cy="9144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BE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641080" y="3474720"/>
            <a:ext cx="54864" cy="914400"/>
          </a:xfrm>
          <a:prstGeom prst="rect">
            <a:avLst/>
          </a:prstGeom>
          <a:solidFill>
            <a:srgbClr val="3BE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787384" y="3584448"/>
            <a:ext cx="21671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data/*.json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7384" y="3950208"/>
            <a:ext cx="216712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Learning content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903720" y="2743200"/>
            <a:ext cx="0" cy="731520"/>
          </a:xfrm>
          <a:prstGeom prst="line">
            <a:avLst/>
          </a:prstGeom>
          <a:ln w="25400">
            <a:solidFill>
              <a:srgbClr val="3F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829800" y="2743200"/>
            <a:ext cx="0" cy="731520"/>
          </a:xfrm>
          <a:prstGeom prst="line">
            <a:avLst/>
          </a:prstGeom>
          <a:ln w="25400">
            <a:solidFill>
              <a:srgbClr val="855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955279" y="3931920"/>
            <a:ext cx="685801" cy="0"/>
          </a:xfrm>
          <a:prstGeom prst="line">
            <a:avLst/>
          </a:prstGeom>
          <a:ln w="2540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989320" y="507492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AAC2DE"/>
                </a:solidFill>
                <a:latin typeface="Aptos"/>
              </a:rPr>
              <a:t>Чёткое разделение ответственности упрощает поддержку проекта.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04 /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9FF"/>
                </a:solidFill>
                <a:latin typeface="Aptos"/>
              </a:rPr>
              <a:t>Ядро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Core — слой, который управляет данными и правилами обучения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92608"/>
            <a:ext cx="713232" cy="310896"/>
          </a:xfrm>
          <a:prstGeom prst="roundRect">
            <a:avLst/>
          </a:prstGeom>
          <a:solidFill>
            <a:srgbClr val="855DFF"/>
          </a:solidFill>
          <a:ln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91088" y="3063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05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0D6FF"/>
                </a:solidFill>
                <a:latin typeface="Aptos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423160"/>
            <a:ext cx="2011680" cy="105156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" y="2423160"/>
            <a:ext cx="54864" cy="1051560"/>
          </a:xfrm>
          <a:prstGeom prst="rect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2532888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Aptos"/>
              </a:rPr>
              <a:t>Пользователь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2898648"/>
            <a:ext cx="175564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действие в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2103120"/>
            <a:ext cx="2286000" cy="169164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49039" y="2103120"/>
            <a:ext cx="54864" cy="1691640"/>
          </a:xfrm>
          <a:prstGeom prst="rect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95344" y="2212848"/>
            <a:ext cx="202996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5F9FF"/>
                </a:solidFill>
                <a:latin typeface="Aptos"/>
              </a:rPr>
              <a:t>ЯДРО app.js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95344" y="2578608"/>
            <a:ext cx="2029967" cy="1161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логика • состояние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сохранение • события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834640" y="2926080"/>
            <a:ext cx="914399" cy="0"/>
          </a:xfrm>
          <a:prstGeom prst="line">
            <a:avLst/>
          </a:prstGeom>
          <a:ln w="3810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0" y="1600200"/>
            <a:ext cx="1783080" cy="713232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0" y="1600200"/>
            <a:ext cx="54864" cy="713232"/>
          </a:xfrm>
          <a:prstGeom prst="rect">
            <a:avLst/>
          </a:prstGeom>
          <a:solidFill>
            <a:srgbClr val="85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61504" y="1709928"/>
            <a:ext cx="1527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F9FF"/>
                </a:solidFill>
                <a:latin typeface="Aptos"/>
              </a:rPr>
              <a:t>Data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035040" y="1956816"/>
            <a:ext cx="1280160" cy="969264"/>
          </a:xfrm>
          <a:prstGeom prst="line">
            <a:avLst/>
          </a:prstGeom>
          <a:ln w="16510">
            <a:solidFill>
              <a:srgbClr val="855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64040" y="1600200"/>
            <a:ext cx="1783080" cy="713232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464040" y="1600200"/>
            <a:ext cx="54864" cy="713232"/>
          </a:xfrm>
          <a:prstGeom prst="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10344" y="1709928"/>
            <a:ext cx="1527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F9FF"/>
                </a:solidFill>
                <a:latin typeface="Aptos"/>
              </a:rPr>
              <a:t>SRS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035040" y="1956816"/>
            <a:ext cx="3429000" cy="969264"/>
          </a:xfrm>
          <a:prstGeom prst="line">
            <a:avLst/>
          </a:prstGeom>
          <a:ln w="16510">
            <a:solidFill>
              <a:srgbClr val="FFB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15200" y="2743200"/>
            <a:ext cx="1783080" cy="713232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15200" y="2743200"/>
            <a:ext cx="54864" cy="713232"/>
          </a:xfrm>
          <a:prstGeom prst="rect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61504" y="2852928"/>
            <a:ext cx="1527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F9FF"/>
                </a:solidFill>
                <a:latin typeface="Aptos"/>
              </a:rPr>
              <a:t>Firebase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35040" y="2926080"/>
            <a:ext cx="1280160" cy="173736"/>
          </a:xfrm>
          <a:prstGeom prst="line">
            <a:avLst/>
          </a:prstGeom>
          <a:ln w="1651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464040" y="2743200"/>
            <a:ext cx="1783080" cy="713232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BE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464040" y="2743200"/>
            <a:ext cx="54864" cy="713232"/>
          </a:xfrm>
          <a:prstGeom prst="rect">
            <a:avLst/>
          </a:prstGeom>
          <a:solidFill>
            <a:srgbClr val="3BE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10344" y="2852928"/>
            <a:ext cx="1527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F9FF"/>
                </a:solidFill>
                <a:latin typeface="Aptos"/>
              </a:rPr>
              <a:t>XP / Streak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35040" y="2926080"/>
            <a:ext cx="3429000" cy="173736"/>
          </a:xfrm>
          <a:prstGeom prst="line">
            <a:avLst/>
          </a:prstGeom>
          <a:ln w="16510">
            <a:solidFill>
              <a:srgbClr val="3BE1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15200" y="3886200"/>
            <a:ext cx="1783080" cy="713232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6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315200" y="3886200"/>
            <a:ext cx="54864" cy="713232"/>
          </a:xfrm>
          <a:prstGeom prst="rect">
            <a:avLst/>
          </a:prstGeom>
          <a:solidFill>
            <a:srgbClr val="FF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61504" y="3995928"/>
            <a:ext cx="1527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F9FF"/>
                </a:solidFill>
                <a:latin typeface="Aptos"/>
              </a:rPr>
              <a:t>Learning Path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035040" y="2926080"/>
            <a:ext cx="1280160" cy="1316736"/>
          </a:xfrm>
          <a:prstGeom prst="line">
            <a:avLst/>
          </a:prstGeom>
          <a:ln w="16510">
            <a:solidFill>
              <a:srgbClr val="FF67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464040" y="3886200"/>
            <a:ext cx="1783080" cy="713232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464040" y="3886200"/>
            <a:ext cx="54864" cy="713232"/>
          </a:xfrm>
          <a:prstGeom prst="rect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10344" y="3995928"/>
            <a:ext cx="15270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F9FF"/>
                </a:solidFill>
                <a:latin typeface="Aptos"/>
              </a:rPr>
              <a:t>Utilities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35040" y="2926080"/>
            <a:ext cx="3429000" cy="1316736"/>
          </a:xfrm>
          <a:prstGeom prst="line">
            <a:avLst/>
          </a:prstGeom>
          <a:ln w="16510">
            <a:solidFill>
              <a:srgbClr val="3F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566160" y="4983480"/>
            <a:ext cx="5669280" cy="685800"/>
          </a:xfrm>
          <a:prstGeom prst="roundRect">
            <a:avLst/>
          </a:prstGeom>
          <a:solidFill>
            <a:srgbClr val="142A48"/>
          </a:solidFill>
          <a:ln w="12700">
            <a:solidFill>
              <a:srgbClr val="3BE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794760" y="516636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3BE1AD"/>
                </a:solidFill>
                <a:latin typeface="Aptos"/>
              </a:rPr>
              <a:t>localStorage  ⇄  Firebase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05 / 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9FF"/>
                </a:solidFill>
                <a:latin typeface="Aptos"/>
              </a:rPr>
              <a:t>8 логических модулей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Каждый модуль отвечает за отдельную область поведения приложения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92608"/>
            <a:ext cx="713232" cy="310896"/>
          </a:xfrm>
          <a:prstGeom prst="roundRect">
            <a:avLst/>
          </a:prstGeom>
          <a:solidFill>
            <a:srgbClr val="855DFF"/>
          </a:solidFill>
          <a:ln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91088" y="3063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06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0D6FF"/>
                </a:solidFill>
                <a:latin typeface="Aptos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737360"/>
            <a:ext cx="2514600" cy="155448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184708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0D6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30428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Aptos"/>
              </a:rPr>
              <a:t>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72491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AC2DE"/>
                </a:solidFill>
                <a:latin typeface="Aptos"/>
              </a:rPr>
              <a:t>JSON-контент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1737360"/>
            <a:ext cx="2514600" cy="155448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0752" y="184708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F73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230428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Aptos"/>
              </a:rPr>
              <a:t>Загрузка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272491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AC2DE"/>
                </a:solidFill>
                <a:latin typeface="Aptos"/>
              </a:rPr>
              <a:t>loadData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737360"/>
            <a:ext cx="2514600" cy="155448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184708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BE3C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230428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Aptos"/>
              </a:rPr>
              <a:t>SRS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1112" y="272491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AC2DE"/>
                </a:solidFill>
                <a:latin typeface="Aptos"/>
              </a:rPr>
              <a:t>Интервалы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737360"/>
            <a:ext cx="2514600" cy="155448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91472" y="184708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855DFF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230428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Aptos"/>
              </a:rPr>
              <a:t>Firebase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272491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AC2DE"/>
                </a:solidFill>
                <a:latin typeface="Aptos"/>
              </a:rPr>
              <a:t>Облачный sync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703320"/>
            <a:ext cx="2514600" cy="155448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BE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381304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BE1AD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27024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Aptos"/>
              </a:rPr>
              <a:t>Learning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" y="469087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AC2DE"/>
                </a:solidFill>
                <a:latin typeface="Aptos"/>
              </a:rPr>
              <a:t>Прогресс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66160" y="3703320"/>
            <a:ext cx="2514600" cy="155448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6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30752" y="381304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67AC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30752" y="427024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Aptos"/>
              </a:rPr>
              <a:t>Mastered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0752" y="469087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AC2DE"/>
                </a:solidFill>
                <a:latin typeface="Aptos"/>
              </a:rPr>
              <a:t>Знаю навсегда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3703320"/>
            <a:ext cx="2514600" cy="155448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11112" y="381304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0D6FF"/>
                </a:solidFill>
                <a:latin typeface="Aptos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1112" y="427024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Aptos"/>
              </a:rPr>
              <a:t>XP / Streak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11112" y="469087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AC2DE"/>
                </a:solidFill>
                <a:latin typeface="Aptos"/>
              </a:rPr>
              <a:t>Мотивация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3703320"/>
            <a:ext cx="2514600" cy="155448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91472" y="381304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F73FF"/>
                </a:solidFill>
                <a:latin typeface="Aptos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1472" y="4270248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Aptos"/>
              </a:rPr>
              <a:t>Утилиты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1472" y="4690872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AC2DE"/>
                </a:solidFill>
                <a:latin typeface="Aptos"/>
              </a:rPr>
              <a:t>Общие функции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AAC2DE"/>
                </a:solidFill>
                <a:latin typeface="Aptos"/>
              </a:rPr>
              <a:t>Модули связаны через общие функции и единое состояние данных.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06 / LEARNING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9FF"/>
                </a:solidFill>
                <a:latin typeface="Aptos"/>
              </a:rPr>
              <a:t>SRS — интервальное повторение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Система постепенно увеличивает интервал между успешными повторами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92608"/>
            <a:ext cx="713232" cy="310896"/>
          </a:xfrm>
          <a:prstGeom prst="roundRect">
            <a:avLst/>
          </a:prstGeom>
          <a:solidFill>
            <a:srgbClr val="855DFF"/>
          </a:solidFill>
          <a:ln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91088" y="3063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07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0D6FF"/>
                </a:solidFill>
                <a:latin typeface="Aptos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691640"/>
            <a:ext cx="4572000" cy="429768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2B4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1938528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0D6FF"/>
                </a:solidFill>
                <a:latin typeface="Aptos"/>
              </a:rPr>
              <a:t>ИНТЕРВАЛЫ ПОВТОРЕНИЯ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572000"/>
            <a:ext cx="411480" cy="411480"/>
          </a:xfrm>
          <a:prstGeom prst="rect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074920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5394960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AAC2DE"/>
                </a:solidFill>
                <a:latin typeface="Aptos"/>
              </a:rPr>
              <a:t>дней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18488" y="4460965"/>
            <a:ext cx="411480" cy="522514"/>
          </a:xfrm>
          <a:prstGeom prst="rect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591056" y="5074920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63624" y="5394960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AAC2DE"/>
                </a:solidFill>
                <a:latin typeface="Aptos"/>
              </a:rPr>
              <a:t>день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76856" y="4349931"/>
            <a:ext cx="411480" cy="633548"/>
          </a:xfrm>
          <a:prstGeom prst="rect">
            <a:avLst/>
          </a:prstGeom>
          <a:solidFill>
            <a:srgbClr val="85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49424" y="5074920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1992" y="5394960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AAC2DE"/>
                </a:solidFill>
                <a:latin typeface="Aptos"/>
              </a:rPr>
              <a:t>дней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35224" y="4127862"/>
            <a:ext cx="411480" cy="855617"/>
          </a:xfrm>
          <a:prstGeom prst="rect">
            <a:avLst/>
          </a:prstGeom>
          <a:solidFill>
            <a:srgbClr val="3BE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07792" y="5074920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5394960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AAC2DE"/>
                </a:solidFill>
                <a:latin typeface="Aptos"/>
              </a:rPr>
              <a:t>дней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93591" y="3794760"/>
            <a:ext cx="411480" cy="1188720"/>
          </a:xfrm>
          <a:prstGeom prst="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66160" y="5074920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8727" y="5394960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AAC2DE"/>
                </a:solidFill>
                <a:latin typeface="Aptos"/>
              </a:rPr>
              <a:t>дней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3017520"/>
            <a:ext cx="411480" cy="1965960"/>
          </a:xfrm>
          <a:prstGeom prst="rect">
            <a:avLst/>
          </a:prstGeom>
          <a:solidFill>
            <a:srgbClr val="FF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24527" y="5074920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7096" y="5394960"/>
            <a:ext cx="53035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0">
                <a:solidFill>
                  <a:srgbClr val="AAC2DE"/>
                </a:solidFill>
                <a:latin typeface="Aptos"/>
              </a:rPr>
              <a:t>дней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687568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AAC2DE"/>
                </a:solidFill>
                <a:latin typeface="Aptos"/>
              </a:rPr>
              <a:t>level: 0 →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1691640"/>
            <a:ext cx="5897880" cy="429768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2B4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5897880" y="1938528"/>
            <a:ext cx="1234440" cy="310896"/>
          </a:xfrm>
          <a:prstGeom prst="roundRect">
            <a:avLst/>
          </a:prstGeom>
          <a:solidFill>
            <a:srgbClr val="3BE1AD"/>
          </a:solidFill>
          <a:ln>
            <a:solidFill>
              <a:srgbClr val="3BE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61888" y="1952244"/>
            <a:ext cx="110642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3BE1AD"/>
                </a:solidFill>
                <a:latin typeface="Aptos"/>
              </a:rPr>
              <a:t>CORRECT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1938528"/>
            <a:ext cx="1325880" cy="310896"/>
          </a:xfrm>
          <a:prstGeom prst="roundRect">
            <a:avLst/>
          </a:prstGeom>
          <a:solidFill>
            <a:srgbClr val="FF67AC"/>
          </a:solidFill>
          <a:ln>
            <a:solidFill>
              <a:srgbClr val="FF6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42248" y="1952244"/>
            <a:ext cx="11978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67AC"/>
                </a:solidFill>
                <a:latin typeface="Aptos"/>
              </a:rPr>
              <a:t>INCORRECT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251460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Consolas"/>
              </a:rPr>
              <a:t>level = min(level + 1, 5)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333756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AAC2DE"/>
                </a:solidFill>
                <a:latin typeface="Aptos"/>
              </a:rPr>
              <a:t>Следующий интервал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7880" y="37947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0D6FF"/>
                </a:solidFill>
                <a:latin typeface="Aptos"/>
              </a:rPr>
              <a:t>по таблице SRS_INTERVALS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503920" y="2423160"/>
            <a:ext cx="0" cy="2971800"/>
          </a:xfrm>
          <a:prstGeom prst="line">
            <a:avLst/>
          </a:prstGeom>
          <a:ln w="12700">
            <a:solidFill>
              <a:srgbClr val="2B4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869680" y="25146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Consolas"/>
              </a:rPr>
              <a:t>level = 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333756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67AC"/>
                </a:solidFill>
                <a:latin typeface="Aptos"/>
              </a:rPr>
              <a:t>Повторить сейчас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539496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dirty="0" err="1">
                <a:solidFill>
                  <a:srgbClr val="AAC2DE"/>
                </a:solidFill>
                <a:latin typeface="Aptos"/>
              </a:rPr>
              <a:t>После</a:t>
            </a:r>
            <a:r>
              <a:rPr sz="1100" b="0" dirty="0">
                <a:solidFill>
                  <a:srgbClr val="AAC2DE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AAC2DE"/>
                </a:solidFill>
                <a:latin typeface="Aptos"/>
              </a:rPr>
              <a:t>обновления</a:t>
            </a:r>
            <a:r>
              <a:rPr sz="1100" b="0" dirty="0">
                <a:solidFill>
                  <a:srgbClr val="AAC2DE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AAC2DE"/>
                </a:solidFill>
                <a:latin typeface="Aptos"/>
              </a:rPr>
              <a:t>прогресса</a:t>
            </a:r>
            <a:r>
              <a:rPr sz="1100" b="0" dirty="0">
                <a:solidFill>
                  <a:srgbClr val="AAC2DE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AAC2DE"/>
                </a:solidFill>
                <a:latin typeface="Aptos"/>
              </a:rPr>
              <a:t>вызывается</a:t>
            </a:r>
            <a:r>
              <a:rPr sz="1100" b="0" dirty="0">
                <a:solidFill>
                  <a:srgbClr val="AAC2DE"/>
                </a:solidFill>
                <a:latin typeface="Aptos"/>
              </a:rPr>
              <a:t> </a:t>
            </a:r>
            <a:r>
              <a:rPr sz="1100" b="0" dirty="0" err="1">
                <a:solidFill>
                  <a:srgbClr val="AAC2DE"/>
                </a:solidFill>
                <a:latin typeface="Aptos"/>
              </a:rPr>
              <a:t>syncToFirebase</a:t>
            </a:r>
            <a:r>
              <a:rPr sz="1100" b="0" dirty="0">
                <a:solidFill>
                  <a:srgbClr val="AAC2DE"/>
                </a:solidFill>
                <a:latin typeface="Aptos"/>
              </a:rPr>
              <a:t>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07 / CLOUD 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9FF"/>
                </a:solidFill>
                <a:latin typeface="Aptos"/>
              </a:rPr>
              <a:t>Firebase — синхронизация с облаком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Локальный прогресс сохраняется и объединяется с данными пользователя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92608"/>
            <a:ext cx="713232" cy="310896"/>
          </a:xfrm>
          <a:prstGeom prst="roundRect">
            <a:avLst/>
          </a:prstGeom>
          <a:solidFill>
            <a:srgbClr val="855DFF"/>
          </a:solidFill>
          <a:ln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91088" y="3063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08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0D6FF"/>
                </a:solidFill>
                <a:latin typeface="Aptos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57400"/>
            <a:ext cx="2011680" cy="100584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057400"/>
            <a:ext cx="54864" cy="1005840"/>
          </a:xfrm>
          <a:prstGeom prst="rect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2167128"/>
            <a:ext cx="17556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9FF"/>
                </a:solidFill>
                <a:latin typeface="Aptos"/>
              </a:rPr>
              <a:t>Приложение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2532888"/>
            <a:ext cx="175564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localStorage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1691640"/>
            <a:ext cx="2194560" cy="105156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703320" y="1691640"/>
            <a:ext cx="54864" cy="1051560"/>
          </a:xfrm>
          <a:prstGeom prst="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9624" y="1801368"/>
            <a:ext cx="19385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9FF"/>
                </a:solidFill>
                <a:latin typeface="Aptos"/>
              </a:rPr>
              <a:t>Firebase 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9624" y="2167128"/>
            <a:ext cx="193852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анонимный вход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3429000"/>
            <a:ext cx="2194560" cy="105156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703320" y="3429000"/>
            <a:ext cx="54864" cy="1051560"/>
          </a:xfrm>
          <a:prstGeom prst="rect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9624" y="3538728"/>
            <a:ext cx="19385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9FF"/>
                </a:solidFill>
                <a:latin typeface="Aptos"/>
              </a:rPr>
              <a:t>Cloud Firestore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9624" y="3904487"/>
            <a:ext cx="1938528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users/{uid}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2423160"/>
            <a:ext cx="3108960" cy="128016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0" y="2423160"/>
            <a:ext cx="54864" cy="1280160"/>
          </a:xfrm>
          <a:prstGeom prst="rect">
            <a:avLst/>
          </a:prstGeom>
          <a:solidFill>
            <a:srgbClr val="85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61504" y="2532888"/>
            <a:ext cx="285292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Aptos"/>
              </a:rPr>
              <a:t>Merge / объединение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504" y="2898648"/>
            <a:ext cx="2852928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локальные + серверные данные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2788920" y="2194560"/>
            <a:ext cx="914400" cy="365760"/>
          </a:xfrm>
          <a:prstGeom prst="line">
            <a:avLst/>
          </a:prstGeom>
          <a:ln w="25400">
            <a:solidFill>
              <a:srgbClr val="3F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800600" y="2743200"/>
            <a:ext cx="0" cy="685800"/>
          </a:xfrm>
          <a:prstGeom prst="line">
            <a:avLst/>
          </a:prstGeom>
          <a:ln w="25400">
            <a:solidFill>
              <a:srgbClr val="FFBE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897880" y="3246120"/>
            <a:ext cx="1417320" cy="685800"/>
          </a:xfrm>
          <a:prstGeom prst="line">
            <a:avLst/>
          </a:prstGeom>
          <a:ln w="25400">
            <a:solidFill>
              <a:srgbClr val="30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788920" y="2697480"/>
            <a:ext cx="4526280" cy="731520"/>
          </a:xfrm>
          <a:prstGeom prst="line">
            <a:avLst/>
          </a:prstGeom>
          <a:ln w="25400">
            <a:solidFill>
              <a:srgbClr val="3BE1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8680" y="5074920"/>
            <a:ext cx="10287000" cy="731520"/>
          </a:xfrm>
          <a:prstGeom prst="roundRect">
            <a:avLst/>
          </a:prstGeom>
          <a:solidFill>
            <a:srgbClr val="142A48"/>
          </a:solidFill>
          <a:ln w="12700">
            <a:solidFill>
              <a:srgbClr val="2B4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5285232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Consolas"/>
              </a:rPr>
              <a:t>initFirebase()     loadFromFirebase()     syncToFirebase()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60" y="406908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uid — стабильный ID пользователя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08 / LEARNING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9FF"/>
                </a:solidFill>
                <a:latin typeface="Aptos"/>
              </a:rPr>
              <a:t>Learning Path — путь обучения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Прогресс по грамматическим временам и уровням языка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92608"/>
            <a:ext cx="713232" cy="310896"/>
          </a:xfrm>
          <a:prstGeom prst="roundRect">
            <a:avLst/>
          </a:prstGeom>
          <a:solidFill>
            <a:srgbClr val="855DFF"/>
          </a:solidFill>
          <a:ln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91088" y="3063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09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0D6FF"/>
                </a:solidFill>
                <a:latin typeface="Aptos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874519"/>
            <a:ext cx="1645920" cy="9144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0D6FF"/>
                </a:solidFill>
                <a:latin typeface="Aptos"/>
              </a:rPr>
              <a:t>PRESENT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68880" y="2331720"/>
            <a:ext cx="274320" cy="0"/>
          </a:xfrm>
          <a:prstGeom prst="line">
            <a:avLst/>
          </a:prstGeom>
          <a:ln w="25400">
            <a:solidFill>
              <a:srgbClr val="2B4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0" y="1874519"/>
            <a:ext cx="1645920" cy="9144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21488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855DFF"/>
                </a:solidFill>
                <a:latin typeface="Aptos"/>
              </a:rPr>
              <a:t>PAST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89120" y="2331720"/>
            <a:ext cx="274320" cy="0"/>
          </a:xfrm>
          <a:prstGeom prst="line">
            <a:avLst/>
          </a:prstGeom>
          <a:ln w="25400">
            <a:solidFill>
              <a:srgbClr val="2B4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63440" y="1874519"/>
            <a:ext cx="1645920" cy="9144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214884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BE3C"/>
                </a:solidFill>
                <a:latin typeface="Aptos"/>
              </a:rPr>
              <a:t>FUTURE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06324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AAC2DE"/>
                </a:solidFill>
                <a:latin typeface="Aptos"/>
              </a:rPr>
              <a:t>3 блока времени  •  12 времён  •  уровни A1–C1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29400" y="1737360"/>
            <a:ext cx="4572000" cy="361188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2B4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201168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0D6FF"/>
                </a:solidFill>
                <a:latin typeface="Aptos"/>
              </a:rPr>
              <a:t>УСЛОВИЕ ЗАВЕРШЕНИЯ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2651760"/>
            <a:ext cx="1554480" cy="731520"/>
          </a:xfrm>
          <a:prstGeom prst="roundRect">
            <a:avLst/>
          </a:prstGeom>
          <a:solidFill>
            <a:srgbClr val="142A48"/>
          </a:solidFill>
          <a:ln w="12700">
            <a:solidFill>
              <a:srgbClr val="3BE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86600" y="28529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3BE1AD"/>
                </a:solidFill>
                <a:latin typeface="Aptos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816352"/>
            <a:ext cx="411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5F9FF"/>
                </a:solidFill>
                <a:latin typeface="Aptos"/>
              </a:rPr>
              <a:t>&amp;&amp;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2651760"/>
            <a:ext cx="1554480" cy="731520"/>
          </a:xfrm>
          <a:prstGeom prst="roundRect">
            <a:avLst/>
          </a:prstGeom>
          <a:solidFill>
            <a:srgbClr val="142A48"/>
          </a:solidFill>
          <a:ln w="12700"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81160" y="28529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855DFF"/>
                </a:solidFill>
                <a:latin typeface="Aptos"/>
              </a:rPr>
              <a:t>translate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70332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Предложение считается пройденным,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если выполнены оба шага.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956" y="4069080"/>
            <a:ext cx="5120640" cy="128016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2B4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29768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55DFF"/>
                </a:solidFill>
                <a:latin typeface="Aptos"/>
              </a:rPr>
              <a:t>ФУНКЦИИ ПРОГРЕССА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681728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5F9FF"/>
                </a:solidFill>
                <a:latin typeface="Consolas"/>
              </a:rPr>
              <a:t>markDuoDone • isDuoDone • getTenseProgress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5F9FF"/>
                </a:solidFill>
                <a:latin typeface="Consolas"/>
              </a:rPr>
              <a:t>getBlockProgress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09 / CODE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9FF"/>
                </a:solidFill>
                <a:latin typeface="Aptos"/>
              </a:rPr>
              <a:t>DRY — Don't Repeat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Повторяющаяся логика вынесена в общие функции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92608"/>
            <a:ext cx="713232" cy="310896"/>
          </a:xfrm>
          <a:prstGeom prst="roundRect">
            <a:avLst/>
          </a:prstGeom>
          <a:solidFill>
            <a:srgbClr val="855DFF"/>
          </a:solidFill>
          <a:ln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91088" y="3063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10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0D6FF"/>
                </a:solidFill>
                <a:latin typeface="Aptos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37360"/>
            <a:ext cx="4480560" cy="420624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2B4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5840" y="1965960"/>
            <a:ext cx="1097280" cy="310896"/>
          </a:xfrm>
          <a:prstGeom prst="roundRect">
            <a:avLst/>
          </a:prstGeom>
          <a:solidFill>
            <a:srgbClr val="FF67AC"/>
          </a:solidFill>
          <a:ln>
            <a:solidFill>
              <a:srgbClr val="FF6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1979676"/>
            <a:ext cx="9692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67AC"/>
                </a:solidFill>
                <a:latin typeface="Aptos"/>
              </a:rPr>
              <a:t>БЫЛО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1460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Aptos"/>
              </a:rPr>
              <a:t>Одинаковая логика в разных местах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54680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Consolas"/>
              </a:rPr>
              <a:t>×  if (!srsData[word]) 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85032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Consolas"/>
              </a:rPr>
              <a:t>×  Повторное перемешивание массива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15384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Consolas"/>
              </a:rPr>
              <a:t>×  Разные проверки перевода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45736"/>
            <a:ext cx="37490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Consolas"/>
              </a:rPr>
              <a:t>×  Дубли синхронизации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737360"/>
            <a:ext cx="4572000" cy="420624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2B4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766560" y="1965960"/>
            <a:ext cx="1097280" cy="310896"/>
          </a:xfrm>
          <a:prstGeom prst="roundRect">
            <a:avLst/>
          </a:prstGeom>
          <a:solidFill>
            <a:srgbClr val="3BE1AD"/>
          </a:solidFill>
          <a:ln>
            <a:solidFill>
              <a:srgbClr val="3BE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30568" y="1979676"/>
            <a:ext cx="969264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3BE1AD"/>
                </a:solidFill>
                <a:latin typeface="Aptos"/>
              </a:rPr>
              <a:t>СТАЛО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514600"/>
            <a:ext cx="3840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F9FF"/>
                </a:solidFill>
                <a:latin typeface="Aptos"/>
              </a:rPr>
              <a:t>Одна функция — одно назначение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546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0D6FF"/>
                </a:solidFill>
                <a:latin typeface="Consolas"/>
              </a:rPr>
              <a:t>✓  getSrsData()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8503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0D6FF"/>
                </a:solidFill>
                <a:latin typeface="Consolas"/>
              </a:rPr>
              <a:t>✓  shuffleArray()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1538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0D6FF"/>
                </a:solidFill>
                <a:latin typeface="Consolas"/>
              </a:rPr>
              <a:t>✓  getTranslation() / mergeTemporary()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745736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0D6FF"/>
                </a:solidFill>
                <a:latin typeface="Consolas"/>
              </a:rPr>
              <a:t>✓  syncToFirebase()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12080" y="3840480"/>
            <a:ext cx="1280160" cy="0"/>
          </a:xfrm>
          <a:prstGeom prst="line">
            <a:avLst/>
          </a:prstGeom>
          <a:ln w="38100">
            <a:solidFill>
              <a:srgbClr val="855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21808" y="347472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DRY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10 /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9FF"/>
                </a:solidFill>
                <a:latin typeface="Aptos"/>
              </a:rPr>
              <a:t>Структура интерфейса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Основные области экрана и их ответственность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92608"/>
            <a:ext cx="713232" cy="310896"/>
          </a:xfrm>
          <a:prstGeom prst="roundRect">
            <a:avLst/>
          </a:prstGeom>
          <a:solidFill>
            <a:srgbClr val="855DFF"/>
          </a:solidFill>
          <a:ln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91088" y="3063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11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0D6FF"/>
                </a:solidFill>
                <a:latin typeface="Aptos"/>
              </a:rPr>
              <a:t>11</a:t>
            </a:r>
          </a:p>
        </p:txBody>
      </p:sp>
      <p:sp>
        <p:nvSpPr>
          <p:cNvPr id="29" name="Oval 28"/>
          <p:cNvSpPr/>
          <p:nvPr/>
        </p:nvSpPr>
        <p:spPr>
          <a:xfrm>
            <a:off x="8019288" y="1691639"/>
            <a:ext cx="137160" cy="137160"/>
          </a:xfrm>
          <a:prstGeom prst="ellipse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93607" y="164592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F9FF"/>
                </a:solidFill>
                <a:latin typeface="Aptos"/>
              </a:rPr>
              <a:t>Sidebar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164592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10 разделов</a:t>
            </a:r>
          </a:p>
        </p:txBody>
      </p:sp>
      <p:sp>
        <p:nvSpPr>
          <p:cNvPr id="32" name="Oval 31"/>
          <p:cNvSpPr/>
          <p:nvPr/>
        </p:nvSpPr>
        <p:spPr>
          <a:xfrm>
            <a:off x="8019288" y="2423159"/>
            <a:ext cx="137160" cy="137160"/>
          </a:xfrm>
          <a:prstGeom prst="ellipse">
            <a:avLst/>
          </a:prstGeom>
          <a:solidFill>
            <a:srgbClr val="85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93607" y="2377440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F9FF"/>
                </a:solidFill>
                <a:latin typeface="Aptos"/>
              </a:rPr>
              <a:t>Topbar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8088" y="237744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XP, streak, тема</a:t>
            </a:r>
          </a:p>
        </p:txBody>
      </p:sp>
      <p:sp>
        <p:nvSpPr>
          <p:cNvPr id="35" name="Oval 34"/>
          <p:cNvSpPr/>
          <p:nvPr/>
        </p:nvSpPr>
        <p:spPr>
          <a:xfrm>
            <a:off x="8019288" y="3154679"/>
            <a:ext cx="137160" cy="137160"/>
          </a:xfrm>
          <a:prstGeom prst="ellipse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93607" y="3108959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F9FF"/>
                </a:solidFill>
                <a:latin typeface="Aptos"/>
              </a:rPr>
              <a:t>Levels-bar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48088" y="3108959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Фильтр уровня</a:t>
            </a:r>
          </a:p>
        </p:txBody>
      </p:sp>
      <p:sp>
        <p:nvSpPr>
          <p:cNvPr id="38" name="Oval 37"/>
          <p:cNvSpPr/>
          <p:nvPr/>
        </p:nvSpPr>
        <p:spPr>
          <a:xfrm>
            <a:off x="8019288" y="3886199"/>
            <a:ext cx="137160" cy="137160"/>
          </a:xfrm>
          <a:prstGeom prst="ellipse">
            <a:avLst/>
          </a:prstGeom>
          <a:solidFill>
            <a:srgbClr val="3BE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93607" y="3840479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F9FF"/>
                </a:solidFill>
                <a:latin typeface="Aptos"/>
              </a:rPr>
              <a:t>Content-area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8088" y="3840479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Режим обучения</a:t>
            </a:r>
          </a:p>
        </p:txBody>
      </p:sp>
      <p:sp>
        <p:nvSpPr>
          <p:cNvPr id="41" name="Oval 40"/>
          <p:cNvSpPr/>
          <p:nvPr/>
        </p:nvSpPr>
        <p:spPr>
          <a:xfrm>
            <a:off x="8019288" y="4617719"/>
            <a:ext cx="137160" cy="137160"/>
          </a:xfrm>
          <a:prstGeom prst="ellipse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93607" y="4571999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F9FF"/>
                </a:solidFill>
                <a:latin typeface="Aptos"/>
              </a:rPr>
              <a:t>Bottom-nav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48088" y="4571999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AAC2DE"/>
                </a:solidFill>
                <a:latin typeface="Aptos"/>
              </a:rPr>
              <a:t>Мобильная версия</a:t>
            </a:r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9D2D9DFF-C3F0-0D61-8B1F-F425CC4808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2000"/>
          </a:blip>
          <a:stretch>
            <a:fillRect/>
          </a:stretch>
        </p:blipFill>
        <p:spPr>
          <a:xfrm>
            <a:off x="502920" y="1645920"/>
            <a:ext cx="7214616" cy="434606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11 / LEARNING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9FF"/>
                </a:solidFill>
                <a:latin typeface="Aptos"/>
              </a:rPr>
              <a:t>11 режимов приложения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Каждый режим закрывает отдельный сценарий обучения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92608"/>
            <a:ext cx="713232" cy="310896"/>
          </a:xfrm>
          <a:prstGeom prst="roundRect">
            <a:avLst/>
          </a:prstGeom>
          <a:solidFill>
            <a:srgbClr val="855DFF"/>
          </a:solidFill>
          <a:ln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91088" y="3063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12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0D6FF"/>
                </a:solidFill>
                <a:latin typeface="Aptos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691640"/>
            <a:ext cx="2468880" cy="9601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819656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0D6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819656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Dashboard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2304288"/>
            <a:ext cx="146304" cy="109728"/>
          </a:xfrm>
          <a:prstGeom prst="roundRect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15568" y="2304288"/>
            <a:ext cx="146304" cy="109728"/>
          </a:xfrm>
          <a:prstGeom prst="roundRect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344168" y="2304288"/>
            <a:ext cx="146304" cy="109728"/>
          </a:xfrm>
          <a:prstGeom prst="roundRect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84448" y="1691640"/>
            <a:ext cx="2468880" cy="9601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21608" y="1819656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55DFF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4528" y="1819656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Learning Path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39896" y="2304288"/>
            <a:ext cx="146304" cy="109728"/>
          </a:xfrm>
          <a:prstGeom prst="roundRect">
            <a:avLst/>
          </a:prstGeom>
          <a:solidFill>
            <a:srgbClr val="85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968496" y="2304288"/>
            <a:ext cx="146304" cy="109728"/>
          </a:xfrm>
          <a:prstGeom prst="roundRect">
            <a:avLst/>
          </a:prstGeom>
          <a:solidFill>
            <a:srgbClr val="85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97096" y="2304288"/>
            <a:ext cx="146304" cy="109728"/>
          </a:xfrm>
          <a:prstGeom prst="roundRect">
            <a:avLst/>
          </a:prstGeom>
          <a:solidFill>
            <a:srgbClr val="85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37376" y="1691640"/>
            <a:ext cx="2468880" cy="9601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74536" y="1819656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F73FF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1819656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Cards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92824" y="2304288"/>
            <a:ext cx="146304" cy="109728"/>
          </a:xfrm>
          <a:prstGeom prst="roundRect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821424" y="2304288"/>
            <a:ext cx="146304" cy="109728"/>
          </a:xfrm>
          <a:prstGeom prst="roundRect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050024" y="2304288"/>
            <a:ext cx="146304" cy="109728"/>
          </a:xfrm>
          <a:prstGeom prst="roundRect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290304" y="1691640"/>
            <a:ext cx="2468880" cy="9601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27464" y="1819656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BE3C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30384" y="1819656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Test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45752" y="2304288"/>
            <a:ext cx="146304" cy="109728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674352" y="2304288"/>
            <a:ext cx="146304" cy="109728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902952" y="2304288"/>
            <a:ext cx="146304" cy="109728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31520" y="3044952"/>
            <a:ext cx="2468880" cy="9601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BE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3172968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BE1AD"/>
                </a:solidFill>
                <a:latin typeface="Aptos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172968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Write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6968" y="3657600"/>
            <a:ext cx="146304" cy="109728"/>
          </a:xfrm>
          <a:prstGeom prst="roundRect">
            <a:avLst/>
          </a:prstGeom>
          <a:solidFill>
            <a:srgbClr val="3BE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115568" y="3657600"/>
            <a:ext cx="146304" cy="109728"/>
          </a:xfrm>
          <a:prstGeom prst="roundRect">
            <a:avLst/>
          </a:prstGeom>
          <a:solidFill>
            <a:srgbClr val="3BE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344168" y="3657600"/>
            <a:ext cx="146304" cy="109728"/>
          </a:xfrm>
          <a:prstGeom prst="roundRect">
            <a:avLst/>
          </a:prstGeom>
          <a:solidFill>
            <a:srgbClr val="3BE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584448" y="3044952"/>
            <a:ext cx="2468880" cy="9601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6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21608" y="3172968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67AC"/>
                </a:solidFill>
                <a:latin typeface="Aptos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24528" y="3172968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Sentences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39896" y="3657600"/>
            <a:ext cx="146304" cy="109728"/>
          </a:xfrm>
          <a:prstGeom prst="roundRect">
            <a:avLst/>
          </a:prstGeom>
          <a:solidFill>
            <a:srgbClr val="FF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968496" y="3657600"/>
            <a:ext cx="146304" cy="109728"/>
          </a:xfrm>
          <a:prstGeom prst="roundRect">
            <a:avLst/>
          </a:prstGeom>
          <a:solidFill>
            <a:srgbClr val="FF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197096" y="3657600"/>
            <a:ext cx="146304" cy="109728"/>
          </a:xfrm>
          <a:prstGeom prst="roundRect">
            <a:avLst/>
          </a:prstGeom>
          <a:solidFill>
            <a:srgbClr val="FF6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437376" y="3044952"/>
            <a:ext cx="2468880" cy="9601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74536" y="3172968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0D6FF"/>
                </a:solidFill>
                <a:latin typeface="Aptos"/>
              </a:rPr>
              <a:t>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77456" y="3172968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Phrases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92824" y="3657600"/>
            <a:ext cx="146304" cy="109728"/>
          </a:xfrm>
          <a:prstGeom prst="roundRect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821424" y="3657600"/>
            <a:ext cx="146304" cy="109728"/>
          </a:xfrm>
          <a:prstGeom prst="roundRect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7050024" y="3657600"/>
            <a:ext cx="146304" cy="109728"/>
          </a:xfrm>
          <a:prstGeom prst="roundRect">
            <a:avLst/>
          </a:prstGeom>
          <a:solidFill>
            <a:srgbClr val="3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290304" y="3044952"/>
            <a:ext cx="2468880" cy="9601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427464" y="3172968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855DFF"/>
                </a:solidFill>
                <a:latin typeface="Aptos"/>
              </a:rPr>
              <a:t>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30384" y="3172968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Temporary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45752" y="3657600"/>
            <a:ext cx="146304" cy="109728"/>
          </a:xfrm>
          <a:prstGeom prst="roundRect">
            <a:avLst/>
          </a:prstGeom>
          <a:solidFill>
            <a:srgbClr val="85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674352" y="3657600"/>
            <a:ext cx="146304" cy="109728"/>
          </a:xfrm>
          <a:prstGeom prst="roundRect">
            <a:avLst/>
          </a:prstGeom>
          <a:solidFill>
            <a:srgbClr val="85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9902952" y="3657600"/>
            <a:ext cx="146304" cy="109728"/>
          </a:xfrm>
          <a:prstGeom prst="roundRect">
            <a:avLst/>
          </a:prstGeom>
          <a:solidFill>
            <a:srgbClr val="855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731520" y="4398264"/>
            <a:ext cx="2468880" cy="9601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8680" y="4526280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F73FF"/>
                </a:solidFill>
                <a:latin typeface="Aptos"/>
              </a:rPr>
              <a:t>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71600" y="452628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Listening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6968" y="5010912"/>
            <a:ext cx="146304" cy="109728"/>
          </a:xfrm>
          <a:prstGeom prst="roundRect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115568" y="5010912"/>
            <a:ext cx="146304" cy="109728"/>
          </a:xfrm>
          <a:prstGeom prst="roundRect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1344168" y="5010912"/>
            <a:ext cx="146304" cy="109728"/>
          </a:xfrm>
          <a:prstGeom prst="roundRect">
            <a:avLst/>
          </a:prstGeom>
          <a:solidFill>
            <a:srgbClr val="3F7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3584448" y="4398264"/>
            <a:ext cx="2468880" cy="9601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BE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721608" y="4526280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3BE1AD"/>
                </a:solidFill>
                <a:latin typeface="Aptos"/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24528" y="452628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Mastered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739896" y="5010912"/>
            <a:ext cx="146304" cy="109728"/>
          </a:xfrm>
          <a:prstGeom prst="roundRect">
            <a:avLst/>
          </a:prstGeom>
          <a:solidFill>
            <a:srgbClr val="3BE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3968496" y="5010912"/>
            <a:ext cx="146304" cy="109728"/>
          </a:xfrm>
          <a:prstGeom prst="roundRect">
            <a:avLst/>
          </a:prstGeom>
          <a:solidFill>
            <a:srgbClr val="3BE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4197096" y="5010912"/>
            <a:ext cx="146304" cy="109728"/>
          </a:xfrm>
          <a:prstGeom prst="roundRect">
            <a:avLst/>
          </a:prstGeom>
          <a:solidFill>
            <a:srgbClr val="3BE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6437376" y="4398264"/>
            <a:ext cx="2468880" cy="96012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574536" y="4526280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BE3C"/>
                </a:solidFill>
                <a:latin typeface="Aptos"/>
              </a:rPr>
              <a:t>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77456" y="4526280"/>
            <a:ext cx="16916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F9FF"/>
                </a:solidFill>
                <a:latin typeface="Aptos"/>
              </a:rPr>
              <a:t>Profile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592824" y="5010912"/>
            <a:ext cx="146304" cy="109728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6821424" y="5010912"/>
            <a:ext cx="146304" cy="109728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7050024" y="5010912"/>
            <a:ext cx="146304" cy="109728"/>
          </a:xfrm>
          <a:prstGeom prst="roundRect">
            <a:avLst/>
          </a:prstGeom>
          <a:solidFill>
            <a:srgbClr val="FFB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9290304" y="4398264"/>
            <a:ext cx="2468880" cy="960120"/>
          </a:xfrm>
          <a:prstGeom prst="roundRect">
            <a:avLst/>
          </a:prstGeom>
          <a:solidFill>
            <a:srgbClr val="142A48"/>
          </a:solidFill>
          <a:ln w="12700">
            <a:solidFill>
              <a:srgbClr val="2B4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464040" y="459028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F9FF"/>
                </a:solidFill>
                <a:latin typeface="Aptos"/>
              </a:rPr>
              <a:t>Sentences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64040" y="4919472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AAC2DE"/>
                </a:solidFill>
                <a:latin typeface="Aptos"/>
              </a:rPr>
              <a:t>3 подрежима грамматики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" y="5943600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AAC2DE"/>
                </a:solidFill>
                <a:latin typeface="Aptos"/>
              </a:rPr>
              <a:t>Дополнительно: Sentences включает 3 подрежима, Temporary — 4 подрежима.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29600" y="-1920240"/>
            <a:ext cx="5486400" cy="4572000"/>
          </a:xfrm>
          <a:prstGeom prst="ellipse">
            <a:avLst/>
          </a:prstGeom>
          <a:solidFill>
            <a:srgbClr val="0D2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011680" y="5029200"/>
            <a:ext cx="4572000" cy="3657600"/>
          </a:xfrm>
          <a:prstGeom prst="ellipse">
            <a:avLst/>
          </a:prstGeom>
          <a:solidFill>
            <a:srgbClr val="1C1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0D6FF"/>
                </a:solidFill>
                <a:latin typeface="Aptos"/>
              </a:rPr>
              <a:t>12 /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5F9FF"/>
                </a:solidFill>
                <a:latin typeface="Aptos"/>
              </a:rPr>
              <a:t>Что реализовано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AAC2DE"/>
                </a:solidFill>
                <a:latin typeface="Aptos"/>
              </a:rPr>
              <a:t>Ядро, облако и интерфейс работают как единая система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27080" y="292608"/>
            <a:ext cx="713232" cy="310896"/>
          </a:xfrm>
          <a:prstGeom prst="roundRect">
            <a:avLst/>
          </a:prstGeom>
          <a:solidFill>
            <a:srgbClr val="855DFF"/>
          </a:solidFill>
          <a:ln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91088" y="306324"/>
            <a:ext cx="585216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855DFF"/>
                </a:solidFill>
                <a:latin typeface="Aptos"/>
              </a:rPr>
              <a:t>13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0528"/>
            <a:ext cx="457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30D6FF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2468880" cy="11430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929384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30D6FF"/>
                </a:solidFill>
                <a:latin typeface="Aptos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9572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модулей ядра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84448" y="1783080"/>
            <a:ext cx="2468880" cy="11430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B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21608" y="1929384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BE3C"/>
                </a:solidFill>
                <a:latin typeface="Aptos"/>
              </a:rPr>
              <a:t>SRS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39572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интервалы 0–14 дней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37376" y="1783080"/>
            <a:ext cx="2468880" cy="11430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855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74536" y="1929384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855DFF"/>
                </a:solidFill>
                <a:latin typeface="Aptos"/>
              </a:rPr>
              <a:t>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239572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Firebase + merge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1783080"/>
            <a:ext cx="2468880" cy="11430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F7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27464" y="1929384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3F73FF"/>
                </a:solidFill>
                <a:latin typeface="Aptos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4" y="239572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режимов интерфейса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91839"/>
            <a:ext cx="2468880" cy="11430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BE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438144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3BE1AD"/>
                </a:solidFill>
                <a:latin typeface="Aptos"/>
              </a:rPr>
              <a:t>PWA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904487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manifest + service worker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84448" y="3291839"/>
            <a:ext cx="2468880" cy="11430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FF6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21608" y="3438144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67AC"/>
                </a:solidFill>
                <a:latin typeface="Aptos"/>
              </a:rPr>
              <a:t>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3904487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светлая / тёмная темы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7376" y="3291839"/>
            <a:ext cx="2468880" cy="11430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74536" y="3438144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30D6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74536" y="3904487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breakpoint адаптива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90304" y="3291839"/>
            <a:ext cx="2468880" cy="1143000"/>
          </a:xfrm>
          <a:prstGeom prst="roundRect">
            <a:avLst/>
          </a:prstGeom>
          <a:solidFill>
            <a:srgbClr val="112037"/>
          </a:solidFill>
          <a:ln w="12700">
            <a:solidFill>
              <a:srgbClr val="3BE1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27464" y="3438144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3BE1AD"/>
                </a:solidFill>
                <a:latin typeface="Aptos"/>
              </a:rPr>
              <a:t>DRY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27464" y="3904487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5F9FF"/>
                </a:solidFill>
                <a:latin typeface="Aptos"/>
              </a:rPr>
              <a:t>общие функции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257800"/>
            <a:ext cx="10287000" cy="594360"/>
          </a:xfrm>
          <a:prstGeom prst="roundRect">
            <a:avLst/>
          </a:prstGeom>
          <a:solidFill>
            <a:srgbClr val="142A48"/>
          </a:solidFill>
          <a:ln w="12700">
            <a:solidFill>
              <a:srgbClr val="2B4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97280" y="5413248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5F9FF"/>
                </a:solidFill>
                <a:latin typeface="Aptos"/>
              </a:rPr>
              <a:t>English Useful: единый опыт обучения на разных устройствах — онлайн и офлайн.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172200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30D6FF"/>
                </a:solidFill>
                <a:latin typeface="Aptos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736</Words>
  <Application>Microsoft Office PowerPoint</Application>
  <PresentationFormat>Широкоэкранный</PresentationFormat>
  <Paragraphs>266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Useful — Архитектура и интерфейс</dc:title>
  <dc:subject>Backend/Core + Frontend/UI</dc:subject>
  <dc:creator>OpenAI</dc:creator>
  <cp:keywords>English Useful, PWA, Firebase, SRS, Frontend, Backend</cp:keywords>
  <dc:description>generated using python-pptx</dc:description>
  <cp:lastModifiedBy>Вячеслав Батищев</cp:lastModifiedBy>
  <cp:revision>3</cp:revision>
  <dcterms:created xsi:type="dcterms:W3CDTF">2013-01-27T09:14:16Z</dcterms:created>
  <dcterms:modified xsi:type="dcterms:W3CDTF">2026-10-13T14:35:45Z</dcterms:modified>
  <cp:category/>
</cp:coreProperties>
</file>